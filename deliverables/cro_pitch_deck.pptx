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df28588-e5d2-11dd-5f88-4b3c4731938b}">
          <p14:sldIdLst>
            <p14:sldId id="256"/>
          </p14:sldIdLst>
        </p14:section>
        <p14:section name="Evidence" id="{4e161a04-9748-16cc-2323-dff2ef6cc634}">
          <p14:sldIdLst>
            <p14:sldId id="257"/>
            <p14:sldId id="258"/>
            <p14:sldId id="259"/>
          </p14:sldIdLst>
        </p14:section>
        <p14:section name="Model" id="{29fd9eca-7aa8-82bd-2e47-4ce4b500195a}">
          <p14:sldIdLst>
            <p14:sldId id="260"/>
            <p14:sldId id="261"/>
          </p14:sldIdLst>
        </p14:section>
        <p14:section name="Tooling" id="{7f74719b-1c88-f3f1-5740-96d11082ebdd}">
          <p14:sldIdLst>
            <p14:sldId id="262"/>
            <p14:sldId id="263"/>
          </p14:sldIdLst>
        </p14:section>
        <p14:section name="Governance" id="{d5a4288e-036f-cd38-b00d-2734ec7b3205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568"/>
                </a:solidFill>
                <a:latin typeface="+mn-lt"/>
              </a:rPr>
              <a:t>By loan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exposure (%)</c:v>
                </c:pt>
              </c:strCache>
            </c:strRef>
          </c:tx>
          <c:spPr>
            <a:solidFill>
              <a:srgbClr val="9FB3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Auto Loan</c:v>
                  </c:pt>
                  <c:pt idx="1">
                    <c:v>Business Loan</c:v>
                  </c:pt>
                  <c:pt idx="2">
                    <c:v>Credit Card</c:v>
                  </c:pt>
                  <c:pt idx="3">
                    <c:v>Mortgage</c:v>
                  </c:pt>
                  <c:pt idx="4">
                    <c:v>Personal Loan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13.9</c:v>
                </c:pt>
                <c:pt idx="1">
                  <c:v>16</c:v>
                </c:pt>
                <c:pt idx="2">
                  <c:v>16.2</c:v>
                </c:pt>
                <c:pt idx="3">
                  <c:v>24.7</c:v>
                </c:pt>
                <c:pt idx="4">
                  <c:v>14.9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Loan default rate (%)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Auto Loan</c:v>
                  </c:pt>
                  <c:pt idx="1">
                    <c:v>Business Loan</c:v>
                  </c:pt>
                  <c:pt idx="2">
                    <c:v>Credit Card</c:v>
                  </c:pt>
                  <c:pt idx="3">
                    <c:v>Mortgage</c:v>
                  </c:pt>
                  <c:pt idx="4">
                    <c:v>Personal Loan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14.1</c:v>
                </c:pt>
                <c:pt idx="1">
                  <c:v>16.6</c:v>
                </c:pt>
                <c:pt idx="2">
                  <c:v>16.1</c:v>
                </c:pt>
                <c:pt idx="3">
                  <c:v>26.3</c:v>
                </c:pt>
                <c:pt idx="4">
                  <c:v>15.3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2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568"/>
                </a:solidFill>
                <a:latin typeface="+mn-lt"/>
              </a:rPr>
              <a:t>Observed default rate by model risk segment (test set)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default rate (%)</c:v>
                </c:pt>
              </c:strCache>
            </c:strRef>
          </c:tx>
          <c:spPr>
            <a:solidFill>
              <a:srgbClr val="7FB7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B7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B04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11.2</c:v>
                </c:pt>
                <c:pt idx="1">
                  <c:v>22.2</c:v>
                </c:pt>
                <c:pt idx="2">
                  <c:v>36.4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2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Agenda: problem, portfolio evidence, model, dashboard and AI feature, governance, actions. Everything shown is computed from the five supplied tables; nothing is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Denominators matter: loan-level vs customer-level vs exposure-weighted rates are all shown separately throughout, and the dashboard labels which is which.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rates here are loan-level. Exposure = originated loan amount (assumption A6); current outstanding is shown at account level in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maps to an insight in reports/portfolio_findings.md with its denominator and sample size. Cells with fewer than 30 loans are never used as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in model_evaluation_notes.md: LightGBM powers the dashboard (calibrated probabilities, exact SHAP); logistic regression is the production-scorecard candidate with LightGBM as challenger.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drivers by SHAP: annual income, years employed, delinquent months in year one, age, mean bureau DPD — consistent with the cross-tabs and the logistic coefficients.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streamlit run app/dashboard.py. All four pages were exercised by automated tests (filters, invalid IDs, thin-file customers, empty selections).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A (anomaly detection) was chosen over 'Ask the portfolio' because it can be implemented fully and verifiably with the supplied data, with no external API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here claims compliance. The governance items are the prerequisites listed in the assumptions log, section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assumptions and questions are in reports/assumptions_log.md. The deck ends with a decision request: approve the discovery phase (weeks 1–4) and the compliance review of age as a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Credit Risk Portfolio Analytics · all figures computed from the supplied dataset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Credit Risk Portfolio Analytics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Where our default risk sits, how well we can predict it, and what to do about it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Briefing for the Chief Risk Officer · 10 minutes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14,685 loans · 10,000 customers · $601m originated exposure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One in six loans defaults, and losses are concentrated where we lend most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16.1%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Loan-level default rate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14,685 loan accounts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517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21.6%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Customer-level default rate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customers with ≥1 defaulted loan; 39% of customers hold 2–3 loans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6517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21.1%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Exposure in default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originated amount of defaulted loans ÷ total originated amount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5440" y="14813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$601m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2212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Originated exposure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sum of loan_amount across the book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88620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Expected loss is driven by frequency × size: the biggest tickets (mortgages) also default most often, so exposure in default (21%) runs well above the loan-count rate (16%).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 currently have no systematic view of which segments carry the risk, no scored watch-list for accounts drifting towards default, and no audited way to explain a score.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This work delivers all three on the supplied data: a cleaned loan-level dataset, a validated scoring model with per-account explanations, and an analyst dashboard with an embedded anomaly feature.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Portfolio overview: mortgages are half the exposure and the worst performer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What the profiling shows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691640"/>
            <a:ext cx="4023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Mortgages: 9.8% of loans, 52.3% of exposure, 24.7% default rate vs 15.2% for everything else.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Income gradient is monotonic: 32.4% default under $40k vs 9.5% above $100k.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Age: 21–30s are 26.3% of exposure at 20.8%; 61+ default at 7.2%.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Region is flat (15.0%–16.9%); channel and city tier differ by under two points.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Vintages 2018–2023 range 14.9%–17.7% with no trend; 2021 weakest.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Highest-impact insights and risk concentrations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1188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35.1%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214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Mortgages to sub-$60k earners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316 loans, $71m exposure. Mortgage book overall 24.7%; 26.3% of mortgage exposure is in default. Largest concentration = worst performance.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361188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38988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3.4×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1214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Lowest vs highest income band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46888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&lt;$40k defaults at 32.4% vs 9.5% for $100k+. Top loan-to-income quintile 23.8% vs 13.2% bottom. Affordability is the strongest application-stage signal.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280160"/>
            <a:ext cx="361188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138988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35.0%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1214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'Unemployed' borrowers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46888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718 loans (4.9% of exposure) yet 10.8% of defaulted exposure. 43.1% of these customers have a defaulted loan vs 20.5%. Their recorded income is undefined (open question).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4864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0873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23.2%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8188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Two or more bureau write-offs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1663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vs 14.6% with a clean file and 17.6% with no bureau file at all (thin file is riskier than clean). Usable at application time, before any repayment is seen.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4864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40873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34.0%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48188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Young and low-income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51663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21–30 year-olds under $40k (n=373) vs 11.1% for 21–30s over $100k. The age effect is mostly an income and leverage effect — segment by age × income, not age alone.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Modelling approach: a behavioural scorecard built without leakage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25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Loan-level dataset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91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5 tables joined at loan grain; bureau, repayment and collections aggregated first; row count asserted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Engineered features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803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12-month repayment behaviour (missed, DPD, trend), bureau snapshot (write-offs, DPD, utilisation), affordability ratios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Leakage controls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69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Prediction point = end of month 12; collections and gender excluded; customers never split across train/test; preprocessing fit on train only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892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Two models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257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Logistic regression baseline and LightGBM; hyper-parameters by customer-grouped CV; out-of-time check on the 2023 vintage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Held-out test set (20% of customers)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737360"/>
          <a:ext cx="51206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Gini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KS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0.684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0.368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0.276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LightGBM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0.684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0.368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0.271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6583680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Out-of-time: 2023 vintage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3383280"/>
          <a:ext cx="51206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Gini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KS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0.696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0.391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0.312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LightGBM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0.691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0.381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0.299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 txBox="1"/>
          <p:nvPr/>
        </p:nvSpPr>
        <p:spPr>
          <a:xfrm>
            <a:off x="6583680" y="46177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Gini = 2 × AUC − 1; KS = max(TPR − FPR). The two models are statistically tied: the signal in this data is close to additive, so the simpler scorecard is as good as the boosted model.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Model performance: a useful ranking, not an auto-decision engine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292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Segments: High = top 10% of training scores (302 test loans), Medium = next 20% (589), Low = rest (2057). A 3-to-1 spread in observed default across segments.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1280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What the engineered features add (LightGBM AUC)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91640"/>
          <a:ext cx="56692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Feature set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AUC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Application fields only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0.652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+ bureau (no repayment)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0.663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+ repayment (no bureau)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0.678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Full 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0.684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035040" y="3566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Limitations to keep in view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035040" y="397764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At the High cut-off, precision is 36%: roughly two in three flagged accounts would not default. Thresholds must be set against collections capacity.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Target definition, prediction timing and the bureau as-of date are assumptions (A1–A3); the time-filtered bureau check costs only 0.001 AUC but cannot rule leakage out.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Age is a driver; an age-free variant must be validated before any production use (A9).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Data is synthetic: metrics describe this dataset, not a real book.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Dashboard walkthrough: from the portfolio to a single account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118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Portfolio view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KPIs with explicit denominators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Risk-segment mix and observed default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Exposure &amp; default by income, employment, region, age, loan type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Vintage trend, cross-cut heatmap, full-book insights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43400" y="1280160"/>
            <a:ext cx="36118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Working filters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Region · income band · employment type · loan type · risk segment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Every metric, chart and the account list recompute on selection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Empty selections and small cells handled explicitly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38160" y="1280160"/>
            <a:ext cx="36118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Account view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Account and customer IDs only — no personal detail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PD estimate (labelled as an estimate), risk segment, in-/out-of-sample note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Top-8 SHAP drivers with the feature's value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12-month repayment chart, bureau lines, collections events, anomaly flags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Account-level use case (ACC200001, a $306k mortgage)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analyst opens the account from the High-risk list: estimated PD 31% (segment High, portfolio base rate 16%), four late months with a maximum of 14 days past due, no bureau file, and drivers showing a high loan-to-income ratio on a 360-month loan, the delinquent months, the loan size and a short employment tenure. The analyst can see every number behind the score, record a review decision, and route the account to early engagement — or dismiss it with a note. The score is decision support; the analyst decides.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Embedded AI feature: anomaly detection with a human in the loop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4023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</a:rPr>
                        <a:t>Rule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</a:rPr>
                        <a:t>Pattern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</a:rPr>
                        <a:t>Trigger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R1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DPD spike vs own history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Months 10–12 mean DPD ≥ 20 days above months 1–9, worst recent month ≥ 30 DPD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R2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Missed payments vs peers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Missed months above the 95th percentile of loan-type × income-band peers (≥ 2)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R3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Underpayment vs peers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Paid/due ratio below the peer 5th percentile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R4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External stress hidden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≥ 2 bureau write-offs or bureau DPD ≥ 60 while internal max DPD ≤ 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4290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Across the book, 1,420 accounts (9.7%) carry at least one flag; 351 carry two or more. Flagged accounts defaulted at 23% vs 15% for unflagged — enriched for risk, but a flag is not a default and not a fraud finding. R4 accounts defaulted at the base rate: it is a watch-list rule, not a predictor.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663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Human review before any action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50749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486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Flag raised with its evidence, threshold and comparison group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240280" y="50749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4028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240280" y="5486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Analyst reviews repayment chart, bureau and model score in the dashboard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931920" y="50749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3192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931920" y="5486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Decision recorded: confirm → collections team; dismiss → note kept; needs information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23560" y="50749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2356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623560" y="5486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Nothing is contacted, cut or reported automatically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680960" y="1280160"/>
            <a:ext cx="4023360" cy="507492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False positive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863840" y="17373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Two instalments paid 25 days late around a job change, now current (R1); a negotiated lower instalment (R3); a settled write-off the bureau has not updated (R4). Cost: analyst time, or an unjustified contact if review is skipped.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False negative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0" y="3520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borrower late every month from month 1 shows no spike and may sit under the peer cut; distress with a lender that does not report to the bureau is invisible. The feature complements the score; it does not replace it.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863840" y="4983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Safeguards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0" y="53035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Deterministic rules, fixed and documented thresholds, evidence shown for every flag, review queue exportable for audit, no automated action.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Risk, compliance, fairness, explainability and governance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Responsible use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Scores and flags are decision support with mandatory human review; no automated adverse action. The risk of acting on a wrong score is addressed by precision figures on every operating point and by the review queue.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3898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Data privacy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73736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Dashboard shows account and customer IDs only; gender excluded from model and views. Production needs SSO, role-based access, audit logs and a data-protection assessment.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815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Explainability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2900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Per-account SHAP contributions and a transparent logistic baseline; feature dictionary generated from code so documentation cannot drift.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297180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30815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Fairness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42900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Gender disparity check shows near-identical mean PD and High-risk share (0.159 vs 0.164; 9% vs 11%). Age is a driver and a protected characteristic — needs a compliance ruling and an age-free variant.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77316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Model validation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12064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Customer-grouped hold-out plus out-of-time vintage test; both agree. Independent validation, PSI/CSI monitoring, retraining and rollback are designed but not yet operated.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46634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477316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Auditability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512064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Fixed seeds, reproducible pipeline, versioned artefacts, assumptions log with 14 assumptions and 7 open questions. Regulatory compliance has not been assessed and is not claimed.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Recommended actions, expected value and the road to production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Actions the risk team can take now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Review mortgage affordability: income floor or loan-to-income cap for sub-$60k applicants; track mortgage exposure share as a concentration metric.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Add policy rules ahead of the model: two or more bureau write-offs → manual review; 'Unemployed' with undefined income → documented income or secured-only.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Treat thin-file applicants as their own policy segment (lower initial limits).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Use the High segment (top 10%) as an early-engagement list and the anomaly queue as a weekly analyst review; set thresholds against collections capacity.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Expected value — hypotheses, not measured outcomes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920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Concentrating early engagement on the High segment reaches 23% of defaulters from 10% of accounts (test set); any loss reduction depends on collections effectiveness, which this data cannot measure.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Policy rules on write-offs and affordability would have touched the segments with 2–3× the book default rate; impact on volume must be weighed by the business.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Roadmap and what we need from the bank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737360"/>
            <a:ext cx="1325880" cy="96012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73736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Weeks 1–4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1783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Confirm default definition, prediction timing, income semantics, bureau as-of date (Q1–Q7); fix collections dates.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2852928"/>
            <a:ext cx="1325880" cy="96012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852928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Weeks 5–8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8986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Rebuild features on point-in-time data; validate age-free variant; compliance ruling; independent validation of the scorecard.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3968496"/>
            <a:ext cx="1325880" cy="96012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3968496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Weeks 9–12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401421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Deploy behind SSO with audit logging; PSI/CSI monitoring; analyst pilot of the anomaly queue; tune thresholds on reviewed outcomes.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0" y="5084064"/>
            <a:ext cx="1325880" cy="96012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5084064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Ongoing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512978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Quarterly performance review; annual or event-triggered retraining with validation and rollback.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dit Risk CRO">
  <a:themeElements>
    <a:clrScheme name="Credit Risk CRO">
      <a:dk1>
        <a:srgbClr val="1F2A44"/>
      </a:dk1>
      <a:lt1>
        <a:srgbClr val="FFFFFF"/>
      </a:lt1>
      <a:dk2>
        <a:srgbClr val="4A5568"/>
      </a:dk2>
      <a:lt2>
        <a:srgbClr val="EEF2F6"/>
      </a:lt2>
      <a:accent1>
        <a:srgbClr val="B23A48"/>
      </a:accent1>
      <a:accent2>
        <a:srgbClr val="4A6FA5"/>
      </a:accent2>
      <a:accent3>
        <a:srgbClr val="7FB77E"/>
      </a:accent3>
      <a:accent4>
        <a:srgbClr val="E8B04B"/>
      </a:accent4>
      <a:accent5>
        <a:srgbClr val="9FB3C8"/>
      </a:accent5>
      <a:accent6>
        <a:srgbClr val="6B7B8C"/>
      </a:accent6>
      <a:hlink>
        <a:srgbClr val="4A6FA5"/>
      </a:hlink>
      <a:folHlink>
        <a:srgbClr val="6B7B8C"/>
      </a:folHlink>
    </a:clrScheme>
    <a:fontScheme name="Credit Risk CR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Portfolio Analytics — CRO briefing</dc:title>
  <dc:subject>PptxGenJS Presentation</dc:subject>
  <dc:creator>Credit Risk Analytics</dc:creator>
  <cp:lastModifiedBy>Credit Risk Analytics</cp:lastModifiedBy>
  <cp:revision>1</cp:revision>
  <dcterms:created xsi:type="dcterms:W3CDTF">2026-10-25T14:49:17Z</dcterms:created>
  <dcterms:modified xsi:type="dcterms:W3CDTF">2026-10-25T14:49:17Z</dcterms:modified>
</cp:coreProperties>
</file>